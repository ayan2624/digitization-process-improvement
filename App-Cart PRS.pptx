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gBN6LW7jUui/rSF8b+tnlgy67a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5c74ac002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5c74ac002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3f5c74ac002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f96a5af02b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g3f96a5af02b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g3f96a5af02b_0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f5c74ac002_2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f5c74ac002_2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g3f5c74ac002_2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" name="Google Shape;43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f96a5af02b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f96a5af02b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g3f96a5af02b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7.png"/><Relationship Id="rId5" Type="http://schemas.openxmlformats.org/officeDocument/2006/relationships/image" Target="../media/image13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7.png"/><Relationship Id="rId5" Type="http://schemas.openxmlformats.org/officeDocument/2006/relationships/image" Target="../media/image13.png"/><Relationship Id="rId6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Relationship Id="rId4" Type="http://schemas.openxmlformats.org/officeDocument/2006/relationships/image" Target="../media/image21.png"/><Relationship Id="rId5" Type="http://schemas.openxmlformats.org/officeDocument/2006/relationships/image" Target="../media/image15.png"/><Relationship Id="rId6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41B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141B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822950" y="2331650"/>
            <a:ext cx="102453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869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lang="en-US" sz="3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System Approach &amp; scalability for the Future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822960" y="434340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Metro Car Production, Quality &amp; Warehouse Systems — Appcart | Titagarh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1"/>
          <p:cNvCxnSpPr/>
          <p:nvPr/>
        </p:nvCxnSpPr>
        <p:spPr>
          <a:xfrm>
            <a:off x="822960" y="4892040"/>
            <a:ext cx="1005840" cy="0"/>
          </a:xfrm>
          <a:prstGeom prst="straightConnector1">
            <a:avLst/>
          </a:prstGeom>
          <a:noFill/>
          <a:ln cap="flat" cmpd="sng" w="38100">
            <a:solidFill>
              <a:srgbClr val="F2A9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1"/>
          <p:cNvSpPr/>
          <p:nvPr/>
        </p:nvSpPr>
        <p:spPr>
          <a:xfrm>
            <a:off x="822960" y="5074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Prepared for Management Review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PRESENTATION OVERVIEW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Agenda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48640" y="1554480"/>
            <a:ext cx="11064240" cy="1051560"/>
          </a:xfrm>
          <a:prstGeom prst="roundRect">
            <a:avLst>
              <a:gd fmla="val 6957" name="adj"/>
            </a:avLst>
          </a:prstGeom>
          <a:solidFill>
            <a:srgbClr val="EE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777240" y="1554480"/>
            <a:ext cx="10058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1920240" y="1673352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Original Project Scope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1920240" y="2103120"/>
            <a:ext cx="8869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250"/>
              <a:buFont typeface="Calibri"/>
              <a:buNone/>
            </a:pPr>
            <a:r>
              <a:rPr b="0" i="0" lang="en-US" sz="1650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Planning, Production, Tablet App, Quality &amp; Inspection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48640" y="2788920"/>
            <a:ext cx="11064240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777240" y="2788920"/>
            <a:ext cx="10058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920240" y="2907792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Additional Modules &amp; Enhancements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920240" y="3337560"/>
            <a:ext cx="8869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250"/>
              <a:buFont typeface="Calibri"/>
              <a:buNone/>
            </a:pPr>
            <a:r>
              <a:rPr b="0" i="0" lang="en-US" sz="1650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Warehouse, Quality, Manpower, Transfers, Planning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48640" y="4023360"/>
            <a:ext cx="11064240" cy="1051560"/>
          </a:xfrm>
          <a:prstGeom prst="roundRect">
            <a:avLst>
              <a:gd fmla="val 6957" name="adj"/>
            </a:avLst>
          </a:prstGeom>
          <a:solidFill>
            <a:srgbClr val="EE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777240" y="4023360"/>
            <a:ext cx="10058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920240" y="4142232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Key Gaps &amp; Recommendations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920240" y="4572000"/>
            <a:ext cx="8869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250"/>
              <a:buFont typeface="Calibri"/>
              <a:buNone/>
            </a:pPr>
            <a:r>
              <a:rPr b="0" i="0" lang="en-US" sz="1650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Root causes and proposed process fixes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48640" y="5257800"/>
            <a:ext cx="11064240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777240" y="5257800"/>
            <a:ext cx="10058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920240" y="5376672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Dashboards, Roadmap &amp; MIS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920240" y="5806440"/>
            <a:ext cx="8869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250"/>
              <a:buFont typeface="Calibri"/>
              <a:buNone/>
            </a:pPr>
            <a:r>
              <a:rPr b="0" i="0" lang="en-US" sz="1650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Management visibility and standardization path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000"/>
              <a:buFont typeface="Calibri"/>
              <a:buNone/>
            </a:pPr>
            <a:r>
              <a:rPr b="0" i="0" lang="en-US" sz="1500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Project Scope vs. Additional Work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Original Project Scope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548640" y="1600200"/>
            <a:ext cx="5349240" cy="1965960"/>
          </a:xfrm>
          <a:prstGeom prst="roundRect">
            <a:avLst>
              <a:gd fmla="val 4186" name="adj"/>
            </a:avLst>
          </a:prstGeom>
          <a:solidFill>
            <a:srgbClr val="EE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804672" y="1856232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1645920" y="1828800"/>
            <a:ext cx="4069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Planning Module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822950" y="2468875"/>
            <a:ext cx="48423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200"/>
              <a:buFont typeface="Calibri"/>
              <a:buNone/>
            </a:pPr>
            <a:r>
              <a:rPr b="0" i="0" lang="en-US" sz="1800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Monthly &amp; weekly Excel import; daily, weekly, monthly and status-wise progress reports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6263640" y="1600200"/>
            <a:ext cx="5349240" cy="1965960"/>
          </a:xfrm>
          <a:prstGeom prst="roundRect">
            <a:avLst>
              <a:gd fmla="val 4186" name="adj"/>
            </a:avLst>
          </a:prstGeom>
          <a:solidFill>
            <a:srgbClr val="EE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6519672" y="1856232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7360920" y="1828800"/>
            <a:ext cx="4069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Production Module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6587651" y="2468875"/>
            <a:ext cx="48423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200"/>
              <a:buFont typeface="Calibri"/>
              <a:buNone/>
            </a:pPr>
            <a:r>
              <a:rPr b="0" i="0" lang="en-US" sz="1800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Station-wise activity lists, per-car activity schedules, work allocation by station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548640" y="3840480"/>
            <a:ext cx="5349240" cy="1965960"/>
          </a:xfrm>
          <a:prstGeom prst="roundRect">
            <a:avLst>
              <a:gd fmla="val 4186" name="adj"/>
            </a:avLst>
          </a:prstGeom>
          <a:solidFill>
            <a:srgbClr val="EE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804672" y="4096512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1645920" y="4069080"/>
            <a:ext cx="4069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Production Tablet App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822950" y="4709155"/>
            <a:ext cx="48423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200"/>
              <a:buFont typeface="Calibri"/>
              <a:buNone/>
            </a:pPr>
            <a:r>
              <a:rPr b="0" i="0" lang="en-US" sz="1800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View assigned activities, start/complete work, update activity status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263640" y="3840480"/>
            <a:ext cx="5349240" cy="1965960"/>
          </a:xfrm>
          <a:prstGeom prst="roundRect">
            <a:avLst>
              <a:gd fmla="val 4186" name="adj"/>
            </a:avLst>
          </a:prstGeom>
          <a:solidFill>
            <a:srgbClr val="EE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6519672" y="4096512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7360920" y="4069080"/>
            <a:ext cx="4069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Quality Module &amp; QA Inspection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6587651" y="4709155"/>
            <a:ext cx="48423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200"/>
              <a:buFont typeface="Calibri"/>
              <a:buNone/>
            </a:pPr>
            <a:r>
              <a:rPr b="0" i="0" lang="en-US" sz="1800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QA checklist import; inspection, rework notification and re-inspection 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Original Project Scope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p3" title="Planni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112" y="1892888"/>
            <a:ext cx="566766" cy="566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3" title="Produc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56329" y="1892875"/>
            <a:ext cx="566766" cy="566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3" title="Quality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47822" y="4133163"/>
            <a:ext cx="566766" cy="566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3" title="Table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1325" y="4124938"/>
            <a:ext cx="566766" cy="566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g3f5c74ac002_2_0" title="Gemini_Generated_Image_8v5yqm8v5yqm8v5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103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1.1  Planning Module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548640" y="1600200"/>
            <a:ext cx="5120640" cy="4206240"/>
          </a:xfrm>
          <a:prstGeom prst="roundRect">
            <a:avLst>
              <a:gd fmla="val 1957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868680" y="1920240"/>
            <a:ext cx="640080" cy="64008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1691640" y="196596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Excel Import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868680" y="2788920"/>
            <a:ext cx="44805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94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200"/>
              <a:buFont typeface="Calibri"/>
              <a:buChar char="•"/>
            </a:pPr>
            <a:r>
              <a:rPr b="0" i="0" lang="en-US" sz="2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Monthly Planning Excel Import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28600" marR="0" rtl="0" algn="l">
              <a:spcBef>
                <a:spcPts val="1400"/>
              </a:spcBef>
              <a:spcAft>
                <a:spcPts val="0"/>
              </a:spcAft>
              <a:buClr>
                <a:srgbClr val="CADCFC"/>
              </a:buClr>
              <a:buSzPts val="2200"/>
              <a:buFont typeface="Calibri"/>
              <a:buChar char="•"/>
            </a:pPr>
            <a:r>
              <a:rPr b="0" i="0" lang="en-US" sz="2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Weekly Planning Excel Import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5897880" y="1600200"/>
            <a:ext cx="5742432" cy="4206240"/>
          </a:xfrm>
          <a:prstGeom prst="roundRect">
            <a:avLst>
              <a:gd fmla="val 1957" name="adj"/>
            </a:avLst>
          </a:prstGeom>
          <a:solidFill>
            <a:srgbClr val="EE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6217920" y="192024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7040880" y="196596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Reports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6217920" y="2788920"/>
            <a:ext cx="512064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94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Char char="•"/>
            </a:pPr>
            <a:r>
              <a:rPr b="0" i="0" lang="en-US" sz="2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Daily Progress Report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28600" marR="0" rtl="0" algn="l">
              <a:spcBef>
                <a:spcPts val="140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Char char="•"/>
            </a:pPr>
            <a:r>
              <a:rPr b="0" i="0" lang="en-US" sz="2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Weekly Progress Report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28600" marR="0" rtl="0" algn="l">
              <a:spcBef>
                <a:spcPts val="140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Char char="•"/>
            </a:pPr>
            <a:r>
              <a:rPr b="0" i="0" lang="en-US" sz="2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Monthly Progress Report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28600" marR="0" rtl="0" algn="l">
              <a:spcBef>
                <a:spcPts val="140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Char char="•"/>
            </a:pPr>
            <a:r>
              <a:rPr b="0" i="0" lang="en-US" sz="2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Status-wise Progress Reports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Original Project Scope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5" title="Exce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5988" y="1927550"/>
            <a:ext cx="625450" cy="62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5" title="Repor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5225" y="1927563"/>
            <a:ext cx="625450" cy="62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1.2 – 1.3  Production Module &amp; Tablet App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548640" y="1600200"/>
            <a:ext cx="5440680" cy="4206240"/>
          </a:xfrm>
          <a:prstGeom prst="roundRect">
            <a:avLst>
              <a:gd fmla="val 1957" name="adj"/>
            </a:avLst>
          </a:prstGeom>
          <a:solidFill>
            <a:srgbClr val="EE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868680" y="192024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1691640" y="196596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Production Module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868680" y="269748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250"/>
              <a:buFont typeface="Calibri"/>
              <a:buNone/>
            </a:pPr>
            <a:r>
              <a:rPr b="0" i="1" lang="en-US" sz="2150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The system generates: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868680" y="3108960"/>
            <a:ext cx="484632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300"/>
              <a:buFont typeface="Calibri"/>
              <a:buChar char="•"/>
            </a:pPr>
            <a:r>
              <a:rPr b="0" i="0" lang="en-US" sz="2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Station-wise activity list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28600" marR="0" rtl="0" algn="l">
              <a:spcBef>
                <a:spcPts val="1400"/>
              </a:spcBef>
              <a:spcAft>
                <a:spcPts val="0"/>
              </a:spcAft>
              <a:buClr>
                <a:srgbClr val="1E2761"/>
              </a:buClr>
              <a:buSzPts val="2300"/>
              <a:buFont typeface="Calibri"/>
              <a:buChar char="•"/>
            </a:pPr>
            <a:r>
              <a:rPr b="0" i="0" lang="en-US" sz="2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Activity schedule for each Metro Car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28600" marR="0" rtl="0" algn="l">
              <a:spcBef>
                <a:spcPts val="1400"/>
              </a:spcBef>
              <a:spcAft>
                <a:spcPts val="0"/>
              </a:spcAft>
              <a:buClr>
                <a:srgbClr val="1E2761"/>
              </a:buClr>
              <a:buSzPts val="2300"/>
              <a:buFont typeface="Calibri"/>
              <a:buChar char="•"/>
            </a:pPr>
            <a:r>
              <a:rPr b="0" i="0" lang="en-US" sz="2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Production work allocation by station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6199632" y="1600200"/>
            <a:ext cx="5440680" cy="4206240"/>
          </a:xfrm>
          <a:prstGeom prst="roundRect">
            <a:avLst>
              <a:gd fmla="val 1957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6519672" y="1920240"/>
            <a:ext cx="640080" cy="64008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7342632" y="196596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Production Tablet App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6519672" y="2788920"/>
            <a:ext cx="484632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300"/>
              <a:buFont typeface="Calibri"/>
              <a:buChar char="•"/>
            </a:pPr>
            <a:r>
              <a:rPr b="0" i="0" lang="en-US" sz="2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View assigned activities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28600" marR="0" rtl="0" algn="l">
              <a:spcBef>
                <a:spcPts val="1400"/>
              </a:spcBef>
              <a:spcAft>
                <a:spcPts val="0"/>
              </a:spcAft>
              <a:buClr>
                <a:srgbClr val="CADCFC"/>
              </a:buClr>
              <a:buSzPts val="2300"/>
              <a:buFont typeface="Calibri"/>
              <a:buChar char="•"/>
            </a:pPr>
            <a:r>
              <a:rPr b="0" i="0" lang="en-US" sz="2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Start / Complete activities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28600" marR="0" rtl="0" algn="l">
              <a:spcBef>
                <a:spcPts val="1400"/>
              </a:spcBef>
              <a:spcAft>
                <a:spcPts val="0"/>
              </a:spcAft>
              <a:buClr>
                <a:srgbClr val="CADCFC"/>
              </a:buClr>
              <a:buSzPts val="2300"/>
              <a:buFont typeface="Calibri"/>
              <a:buChar char="•"/>
            </a:pPr>
            <a:r>
              <a:rPr b="0" i="0" lang="en-US" sz="2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Update activity status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Original Project Scope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6" title="Table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6325" y="1956900"/>
            <a:ext cx="566766" cy="566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6" title="Produc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5329" y="1956888"/>
            <a:ext cx="566766" cy="566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1.4 – 1.5  Quality Module &amp; QA Inspection Process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300"/>
              <a:buFont typeface="Calibri"/>
              <a:buNone/>
            </a:pPr>
            <a:r>
              <a:rPr b="0" i="0" lang="en-US" sz="2000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Import QA checklists into the system; QA inspects completed station activities against the checklist.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492088" y="2788920"/>
            <a:ext cx="1965900" cy="1737300"/>
          </a:xfrm>
          <a:prstGeom prst="roundRect">
            <a:avLst>
              <a:gd fmla="val 4211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601816" y="2880360"/>
            <a:ext cx="73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629248" y="3337560"/>
            <a:ext cx="16917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QA views completed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station activities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2458048" y="3401568"/>
            <a:ext cx="2559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2000"/>
              <a:buFont typeface="Calibri"/>
              <a:buNone/>
            </a:pPr>
            <a:r>
              <a:rPr b="0" i="0" lang="en-US" sz="2700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2889504" y="2788920"/>
            <a:ext cx="1965960" cy="1737360"/>
          </a:xfrm>
          <a:prstGeom prst="roundRect">
            <a:avLst>
              <a:gd fmla="val 4211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2999232" y="288036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3026664" y="3337560"/>
            <a:ext cx="1691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QA fills the inspection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checklist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4791839" y="3401568"/>
            <a:ext cx="2559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2000"/>
              <a:buFont typeface="Calibri"/>
              <a:buNone/>
            </a:pPr>
            <a:r>
              <a:rPr b="0" i="0" lang="en-US" sz="2700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5210172" y="2788920"/>
            <a:ext cx="1965900" cy="1737300"/>
          </a:xfrm>
          <a:prstGeom prst="roundRect">
            <a:avLst>
              <a:gd fmla="val 4211" name="adj"/>
            </a:avLst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5319900" y="2880360"/>
            <a:ext cx="73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5347332" y="3337560"/>
            <a:ext cx="16917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0" i="0" lang="en-US" sz="16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If failed: Station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0" i="0" lang="en-US" sz="16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In-charge notified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0" i="0" lang="en-US" sz="16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on tablet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7206256" y="3337543"/>
            <a:ext cx="2559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2000"/>
              <a:buFont typeface="Calibri"/>
              <a:buNone/>
            </a:pPr>
            <a:r>
              <a:rPr b="0" i="0" lang="en-US" sz="2700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7629517" y="2788920"/>
            <a:ext cx="1965900" cy="1737300"/>
          </a:xfrm>
          <a:prstGeom prst="roundRect">
            <a:avLst>
              <a:gd fmla="val 4211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7739245" y="2880360"/>
            <a:ext cx="73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7766677" y="3337560"/>
            <a:ext cx="16917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Rework performed;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marked completed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9555495" y="3401552"/>
            <a:ext cx="393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2000"/>
              <a:buFont typeface="Calibri"/>
              <a:buNone/>
            </a:pPr>
            <a:r>
              <a:rPr b="0" i="0" lang="en-US" sz="2700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10015969" y="2788920"/>
            <a:ext cx="1965900" cy="1737300"/>
          </a:xfrm>
          <a:prstGeom prst="roundRect">
            <a:avLst>
              <a:gd fmla="val 4211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10125697" y="2880360"/>
            <a:ext cx="73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0153129" y="3337560"/>
            <a:ext cx="16917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QA performs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re-inspection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384180" y="4846320"/>
            <a:ext cx="11064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150"/>
              <a:buFont typeface="Calibri"/>
              <a:buNone/>
            </a:pPr>
            <a:r>
              <a:rPr b="0" i="1" lang="en-US" sz="1850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Failed activities loop back through rework and re-inspection until passed.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41B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777240" y="3017520"/>
            <a:ext cx="9601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Additional Modules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&amp; Enhancements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822960" y="4709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en-US" sz="2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Work delivered beyond the original scope of work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ADDITIONAL MODULES &amp; ENHANCEMENTS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Warehouse Module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548640" y="1508760"/>
            <a:ext cx="594360" cy="5943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1280160" y="1536192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Capabilities Delivered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548640" y="2331720"/>
            <a:ext cx="603504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4950" lvl="0" marL="203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Material Kitting based on Planning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0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Material Kitting Dashboard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0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Material Forecasting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0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Material Status Monitoring (Issued / Not Kitted / Shortage)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0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Material Kitting Status on Tablet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6949440" y="1508760"/>
            <a:ext cx="4709160" cy="2148840"/>
          </a:xfrm>
          <a:prstGeom prst="roundRect">
            <a:avLst>
              <a:gd fmla="val 3830" name="adj"/>
            </a:avLst>
          </a:prstGeom>
          <a:solidFill>
            <a:srgbClr val="EE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7223760" y="16916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100"/>
              <a:buFont typeface="Calibri"/>
              <a:buNone/>
            </a:pPr>
            <a:r>
              <a:rPr b="1" i="0" lang="en-US" sz="1700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7223760" y="2057400"/>
            <a:ext cx="4114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0" i="0" lang="en-US" sz="18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Activity was blocked if material was unavailable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6949440" y="3840480"/>
            <a:ext cx="4709160" cy="2148840"/>
          </a:xfrm>
          <a:prstGeom prst="roundRect">
            <a:avLst>
              <a:gd fmla="val 383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7223760" y="402336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i="0" lang="en-US" sz="17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AFTER  (Material Shortage Workflow)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7223760" y="4389120"/>
            <a:ext cx="42062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Workflow modified to allow production to continue even during material shortages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000"/>
              <a:buFont typeface="Calibri"/>
              <a:buNone/>
            </a:pPr>
            <a:r>
              <a:rPr b="0" i="0" lang="en-US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Additional Modules &amp; Enhancements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9" title="Wearhou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766" y="1530582"/>
            <a:ext cx="520475" cy="52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ADDITIONAL MODULES &amp; ENHANCEMENTS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Quality Module Enhancements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548640" y="1554480"/>
            <a:ext cx="3291900" cy="4297800"/>
          </a:xfrm>
          <a:prstGeom prst="roundRect">
            <a:avLst>
              <a:gd fmla="val 25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0"/>
          <p:cNvSpPr/>
          <p:nvPr/>
        </p:nvSpPr>
        <p:spPr>
          <a:xfrm>
            <a:off x="1874460" y="2246188"/>
            <a:ext cx="640200" cy="6402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"/>
          <p:cNvSpPr/>
          <p:nvPr/>
        </p:nvSpPr>
        <p:spPr>
          <a:xfrm>
            <a:off x="548640" y="2966003"/>
            <a:ext cx="32919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0"/>
              <a:buFont typeface="Cambria"/>
              <a:buNone/>
            </a:pPr>
            <a:r>
              <a:rPr b="1" lang="en-US" sz="6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300+</a:t>
            </a:r>
            <a:endParaRPr b="0" i="0" sz="6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868680" y="4063283"/>
            <a:ext cx="26517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Dynamic Quality Checksheets created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(variant-wise, e.g. DTG)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4251960" y="1737360"/>
            <a:ext cx="740664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765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Char char="•"/>
            </a:pPr>
            <a:r>
              <a:rPr b="0" i="0" lang="en-US" sz="2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Dynamic Quality Checksheet Builder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03200" marR="0" rtl="0" algn="l">
              <a:spcBef>
                <a:spcPts val="150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Char char="•"/>
            </a:pPr>
            <a:r>
              <a:rPr b="0" i="0" lang="en-US" sz="2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Variant-wise Checksheet Creation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03200" marR="0" rtl="0" algn="l">
              <a:spcBef>
                <a:spcPts val="150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Char char="•"/>
            </a:pPr>
            <a:r>
              <a:rPr b="0" i="0" lang="en-US" sz="2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SIC Inspection Module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03200" marR="0" rtl="0" algn="l">
              <a:spcBef>
                <a:spcPts val="150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Char char="•"/>
            </a:pPr>
            <a:r>
              <a:rPr b="0" i="0" lang="en-US" sz="2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QIC Inspection Module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03200" marR="0" rtl="0" algn="l">
              <a:spcBef>
                <a:spcPts val="150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Char char="•"/>
            </a:pPr>
            <a:r>
              <a:rPr b="0" i="0" lang="en-US" sz="2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Quality Checksheet Printing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03200" marR="0" rtl="0" algn="l">
              <a:spcBef>
                <a:spcPts val="150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Char char="•"/>
            </a:pPr>
            <a:r>
              <a:rPr b="0" i="0" lang="en-US" sz="2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Quality Dashboard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000"/>
              <a:buFont typeface="Calibri"/>
              <a:buNone/>
            </a:pPr>
            <a:r>
              <a:rPr b="0" i="0" lang="en-US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Additional Modules &amp; Enhancements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10" title="Qualit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6880" y="2282838"/>
            <a:ext cx="566766" cy="566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ADDITIONAL MODULES &amp; ENHANCEMENTS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Qualified Manpower &amp; Manpower Monitoring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548640" y="1600200"/>
            <a:ext cx="5120640" cy="4206240"/>
          </a:xfrm>
          <a:prstGeom prst="roundRect">
            <a:avLst>
              <a:gd fmla="val 1957" name="adj"/>
            </a:avLst>
          </a:prstGeom>
          <a:solidFill>
            <a:srgbClr val="EE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1"/>
          <p:cNvSpPr/>
          <p:nvPr/>
        </p:nvSpPr>
        <p:spPr>
          <a:xfrm>
            <a:off x="868680" y="192024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1"/>
          <p:cNvSpPr/>
          <p:nvPr/>
        </p:nvSpPr>
        <p:spPr>
          <a:xfrm>
            <a:off x="1691640" y="1938528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Qualified Manpower Module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868680" y="2743200"/>
            <a:ext cx="44805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495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50"/>
              <a:buFont typeface="Calibri"/>
              <a:buChar char="•"/>
            </a:pPr>
            <a:r>
              <a:rPr b="0" i="0" lang="en-US" sz="18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Qualified manpower mapping for each station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03200" marR="0" rtl="0" algn="l">
              <a:spcBef>
                <a:spcPts val="1400"/>
              </a:spcBef>
              <a:spcAft>
                <a:spcPts val="0"/>
              </a:spcAft>
              <a:buClr>
                <a:srgbClr val="1E2761"/>
              </a:buClr>
              <a:buSzPts val="1850"/>
              <a:buFont typeface="Calibri"/>
              <a:buChar char="•"/>
            </a:pPr>
            <a:r>
              <a:rPr b="0" i="0" lang="en-US" sz="18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Worker qualification management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5897880" y="1600200"/>
            <a:ext cx="5742432" cy="4206240"/>
          </a:xfrm>
          <a:prstGeom prst="roundRect">
            <a:avLst>
              <a:gd fmla="val 1957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"/>
          <p:cNvSpPr/>
          <p:nvPr/>
        </p:nvSpPr>
        <p:spPr>
          <a:xfrm>
            <a:off x="6217920" y="1920240"/>
            <a:ext cx="640080" cy="64008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1"/>
          <p:cNvSpPr/>
          <p:nvPr/>
        </p:nvSpPr>
        <p:spPr>
          <a:xfrm>
            <a:off x="7040880" y="1938528"/>
            <a:ext cx="4389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Manpower Monitoring Module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6217920" y="2743200"/>
            <a:ext cx="521208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4950" lvl="0" marL="203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750"/>
              <a:buFont typeface="Calibri"/>
              <a:buChar char="•"/>
            </a:pPr>
            <a:r>
              <a:rPr b="0" i="0" lang="en-US" sz="17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Expected manpower per station &amp; process time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03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CADCFC"/>
              </a:buClr>
              <a:buSzPts val="1750"/>
              <a:buFont typeface="Calibri"/>
              <a:buChar char="•"/>
            </a:pPr>
            <a:r>
              <a:rPr b="0" i="0" lang="en-US" sz="17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Qualified manpower assignment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03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CADCFC"/>
              </a:buClr>
              <a:buSzPts val="1750"/>
              <a:buFont typeface="Calibri"/>
              <a:buChar char="•"/>
            </a:pPr>
            <a:r>
              <a:rPr b="0" i="0" lang="en-US" sz="17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Actual process time &amp; idle time tracking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03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CADCFC"/>
              </a:buClr>
              <a:buSzPts val="1750"/>
              <a:buFont typeface="Calibri"/>
              <a:buChar char="•"/>
            </a:pPr>
            <a:r>
              <a:rPr b="0" i="0" lang="en-US" sz="17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Planned vs Actual Manpower Dashboard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03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CADCFC"/>
              </a:buClr>
              <a:buSzPts val="1750"/>
              <a:buFont typeface="Calibri"/>
              <a:buChar char="•"/>
            </a:pPr>
            <a:r>
              <a:rPr b="0" i="0" lang="en-US" sz="17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Planned vs Actual Process Time Dashboard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Additional Modules &amp; Enhancements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p11" title="Manpower Monitoring Modu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7050" y="1976204"/>
            <a:ext cx="561825" cy="56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1" title="Manpowe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7800" y="1959375"/>
            <a:ext cx="561825" cy="56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ADDITIONAL MODULES &amp; ENHANCEMENTS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Exceptional Station Transfer Workflow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515112" y="2377440"/>
            <a:ext cx="1965900" cy="1920300"/>
          </a:xfrm>
          <a:prstGeom prst="roundRect">
            <a:avLst>
              <a:gd fmla="val 381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2"/>
          <p:cNvSpPr/>
          <p:nvPr/>
        </p:nvSpPr>
        <p:spPr>
          <a:xfrm>
            <a:off x="606552" y="2514600"/>
            <a:ext cx="1783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SIC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652272" y="3063240"/>
            <a:ext cx="16917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SIC raises Exceptional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Transfer Form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2420347" y="3081516"/>
            <a:ext cx="2559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1" i="0" sz="2000" u="none" cap="none" strike="noStrike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2813304" y="2377440"/>
            <a:ext cx="1965900" cy="1920300"/>
          </a:xfrm>
          <a:prstGeom prst="roundRect">
            <a:avLst>
              <a:gd fmla="val 381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2"/>
          <p:cNvSpPr/>
          <p:nvPr/>
        </p:nvSpPr>
        <p:spPr>
          <a:xfrm>
            <a:off x="2904744" y="2514600"/>
            <a:ext cx="1783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QIC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2950464" y="3063240"/>
            <a:ext cx="16917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QIC Approval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4706084" y="3081541"/>
            <a:ext cx="2559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1" i="0" sz="2000" u="none" cap="none" strike="noStrike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5111496" y="2377440"/>
            <a:ext cx="1965960" cy="1920240"/>
          </a:xfrm>
          <a:prstGeom prst="roundRect">
            <a:avLst>
              <a:gd fmla="val 381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2"/>
          <p:cNvSpPr/>
          <p:nvPr/>
        </p:nvSpPr>
        <p:spPr>
          <a:xfrm>
            <a:off x="5202936" y="251460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5248656" y="3063240"/>
            <a:ext cx="1691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Vehicle transferred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between stations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7077456" y="3081528"/>
            <a:ext cx="25603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1" i="0" sz="2000" u="none" cap="none" strike="noStrike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7485888" y="2377440"/>
            <a:ext cx="1965900" cy="1920300"/>
          </a:xfrm>
          <a:prstGeom prst="roundRect">
            <a:avLst>
              <a:gd fmla="val 381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2"/>
          <p:cNvSpPr/>
          <p:nvPr/>
        </p:nvSpPr>
        <p:spPr>
          <a:xfrm>
            <a:off x="7577328" y="2514600"/>
            <a:ext cx="1783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✓</a:t>
            </a:r>
            <a:endParaRPr b="0" i="0" sz="1800" u="none" cap="none" strike="noStrike">
              <a:solidFill>
                <a:srgbClr val="F2A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7623048" y="3063240"/>
            <a:ext cx="16917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Transfer details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auto-displayed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9421473" y="3081503"/>
            <a:ext cx="2559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1" i="0" sz="2000" u="none" cap="none" strike="noStrike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9784080" y="2377440"/>
            <a:ext cx="1965900" cy="1920300"/>
          </a:xfrm>
          <a:prstGeom prst="roundRect">
            <a:avLst>
              <a:gd fmla="val 381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"/>
          <p:cNvSpPr/>
          <p:nvPr/>
        </p:nvSpPr>
        <p:spPr>
          <a:xfrm>
            <a:off x="9875520" y="2514600"/>
            <a:ext cx="1783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QC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9921240" y="3063240"/>
            <a:ext cx="16917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Transfer-specific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quality checklist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000"/>
              <a:buFont typeface="Calibri"/>
              <a:buNone/>
            </a:pPr>
            <a:r>
              <a:rPr b="0" i="0" lang="en-US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Additional Modules &amp; Enhancements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3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ADDITIONAL MODULES &amp; ENHANCEMENTS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3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System</a:t>
            </a: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 Enhancements</a:t>
            </a:r>
            <a:endParaRPr b="0" i="0" sz="3000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257775" y="1828800"/>
            <a:ext cx="3735000" cy="3256200"/>
          </a:xfrm>
          <a:prstGeom prst="roundRect">
            <a:avLst>
              <a:gd fmla="val 2647" name="adj"/>
            </a:avLst>
          </a:prstGeom>
          <a:solidFill>
            <a:srgbClr val="EEF3FC"/>
          </a:solidFill>
          <a:ln>
            <a:noFill/>
          </a:ln>
        </p:spPr>
        <p:txBody>
          <a:bodyPr anchorCtr="0" anchor="ctr" bIns="95775" lIns="95775" spcFirstLastPara="1" rIns="95775" wrap="square" tIns="95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66"/>
          </a:p>
        </p:txBody>
      </p:sp>
      <p:sp>
        <p:nvSpPr>
          <p:cNvPr id="243" name="Google Shape;243;p13"/>
          <p:cNvSpPr/>
          <p:nvPr/>
        </p:nvSpPr>
        <p:spPr>
          <a:xfrm>
            <a:off x="1742306" y="2211905"/>
            <a:ext cx="766200" cy="766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5775" lIns="95775" spcFirstLastPara="1" rIns="95775" wrap="square" tIns="95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3"/>
          <p:cNvSpPr/>
          <p:nvPr/>
        </p:nvSpPr>
        <p:spPr>
          <a:xfrm>
            <a:off x="497125" y="3160837"/>
            <a:ext cx="3256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7850" lIns="95775" spcFirstLastPara="1" rIns="95775" wrap="square" tIns="47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24"/>
              <a:buFont typeface="Cambria"/>
              <a:buNone/>
            </a:pPr>
            <a:r>
              <a:rPr b="1" lang="en-US" sz="1624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Email Automation </a:t>
            </a:r>
            <a:endParaRPr b="0" i="0" sz="16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544954" y="3869065"/>
            <a:ext cx="31605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7850" lIns="95775" spcFirstLastPara="1" rIns="95775" wrap="square" tIns="47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257"/>
              <a:buFont typeface="Calibri"/>
              <a:buNone/>
            </a:pPr>
            <a:r>
              <a:rPr lang="en-US" sz="1885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Automated department-wise reports for planning, forecasting, and delay prevention. </a:t>
            </a:r>
            <a:endParaRPr b="0" i="0" sz="1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4280374" y="1828800"/>
            <a:ext cx="3735000" cy="3256200"/>
          </a:xfrm>
          <a:prstGeom prst="roundRect">
            <a:avLst>
              <a:gd fmla="val 2647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5775" lIns="95775" spcFirstLastPara="1" rIns="95775" wrap="square" tIns="95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3"/>
          <p:cNvSpPr/>
          <p:nvPr/>
        </p:nvSpPr>
        <p:spPr>
          <a:xfrm>
            <a:off x="5764904" y="2211905"/>
            <a:ext cx="766200" cy="7662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5775" lIns="95775" spcFirstLastPara="1" rIns="95775" wrap="square" tIns="95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3"/>
          <p:cNvSpPr/>
          <p:nvPr/>
        </p:nvSpPr>
        <p:spPr>
          <a:xfrm>
            <a:off x="4519825" y="3169675"/>
            <a:ext cx="32562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7850" lIns="95775" spcFirstLastPara="1" rIns="95775" wrap="square" tIns="47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4"/>
              <a:buFont typeface="Cambria"/>
              <a:buNone/>
            </a:pPr>
            <a:r>
              <a:rPr b="1" lang="en-US" sz="1624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Notification And Alerts</a:t>
            </a:r>
            <a:endParaRPr b="0" i="0" sz="16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3"/>
          <p:cNvSpPr/>
          <p:nvPr/>
        </p:nvSpPr>
        <p:spPr>
          <a:xfrm>
            <a:off x="4567702" y="3983765"/>
            <a:ext cx="31605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7850" lIns="95775" spcFirstLastPara="1" rIns="95775" wrap="square" tIns="47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7"/>
              <a:buFont typeface="Calibri"/>
              <a:buNone/>
            </a:pPr>
            <a:r>
              <a:rPr lang="en-US" sz="1885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Real-time notifications and alerts to keep users updated and prevent delays. </a:t>
            </a:r>
            <a:endParaRPr b="0" i="0" sz="1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3"/>
          <p:cNvSpPr/>
          <p:nvPr/>
        </p:nvSpPr>
        <p:spPr>
          <a:xfrm>
            <a:off x="8302973" y="1828800"/>
            <a:ext cx="3735000" cy="3256200"/>
          </a:xfrm>
          <a:prstGeom prst="roundRect">
            <a:avLst>
              <a:gd fmla="val 2647" name="adj"/>
            </a:avLst>
          </a:prstGeom>
          <a:solidFill>
            <a:srgbClr val="EEF3FC"/>
          </a:solidFill>
          <a:ln>
            <a:noFill/>
          </a:ln>
        </p:spPr>
        <p:txBody>
          <a:bodyPr anchorCtr="0" anchor="ctr" bIns="95775" lIns="95775" spcFirstLastPara="1" rIns="95775" wrap="square" tIns="95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3"/>
          <p:cNvSpPr/>
          <p:nvPr/>
        </p:nvSpPr>
        <p:spPr>
          <a:xfrm>
            <a:off x="9787503" y="2211905"/>
            <a:ext cx="766200" cy="766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5775" lIns="95775" spcFirstLastPara="1" rIns="95775" wrap="square" tIns="95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3"/>
          <p:cNvSpPr/>
          <p:nvPr/>
        </p:nvSpPr>
        <p:spPr>
          <a:xfrm>
            <a:off x="8542413" y="3169667"/>
            <a:ext cx="3256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7850" lIns="95775" spcFirstLastPara="1" rIns="95775" wrap="square" tIns="47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24"/>
              <a:buFont typeface="Cambria"/>
              <a:buNone/>
            </a:pPr>
            <a:r>
              <a:rPr b="1" i="0" lang="en-US" sz="1624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WhatsApp Integration</a:t>
            </a:r>
            <a:endParaRPr b="0" i="0" sz="16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8590301" y="3983765"/>
            <a:ext cx="31605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7850" lIns="95775" spcFirstLastPara="1" rIns="95775" wrap="square" tIns="47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257"/>
              <a:buFont typeface="Calibri"/>
              <a:buNone/>
            </a:pPr>
            <a:r>
              <a:rPr b="0" i="0" lang="en-US" sz="1885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Notifications and updates delivered via WhatsApp</a:t>
            </a:r>
            <a:endParaRPr b="0" i="0" sz="1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000"/>
              <a:buFont typeface="Calibri"/>
              <a:buNone/>
            </a:pPr>
            <a:r>
              <a:rPr b="0" i="0" lang="en-US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Additional Modules &amp; Enhancements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6" name="Google Shape;256;p13" title="System Notificatio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62082" y="2300847"/>
            <a:ext cx="617062" cy="617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13" title="Daily Plannin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8659" y="2300853"/>
            <a:ext cx="617057" cy="617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3" title="Data Migratio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46993" y="2300853"/>
            <a:ext cx="617057" cy="6170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4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Key Gaps Identified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4"/>
          <p:cNvSpPr/>
          <p:nvPr/>
        </p:nvSpPr>
        <p:spPr>
          <a:xfrm>
            <a:off x="548650" y="1475425"/>
            <a:ext cx="11064300" cy="842100"/>
          </a:xfrm>
          <a:prstGeom prst="roundRect">
            <a:avLst>
              <a:gd fmla="val 6400" name="adj"/>
            </a:avLst>
          </a:prstGeom>
          <a:solidFill>
            <a:srgbClr val="EE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4"/>
          <p:cNvSpPr/>
          <p:nvPr/>
        </p:nvSpPr>
        <p:spPr>
          <a:xfrm>
            <a:off x="777240" y="1600507"/>
            <a:ext cx="640200" cy="6402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4"/>
          <p:cNvSpPr/>
          <p:nvPr/>
        </p:nvSpPr>
        <p:spPr>
          <a:xfrm>
            <a:off x="1691650" y="1532946"/>
            <a:ext cx="96927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0" i="0" lang="en-US" sz="2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Material kitting is currently based on Production Orders instead of Planning.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4"/>
          <p:cNvSpPr/>
          <p:nvPr/>
        </p:nvSpPr>
        <p:spPr>
          <a:xfrm>
            <a:off x="563850" y="2588677"/>
            <a:ext cx="11064300" cy="842100"/>
          </a:xfrm>
          <a:prstGeom prst="roundRect">
            <a:avLst>
              <a:gd fmla="val 6400" name="adj"/>
            </a:avLst>
          </a:prstGeom>
          <a:solidFill>
            <a:srgbClr val="EE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4"/>
          <p:cNvSpPr/>
          <p:nvPr/>
        </p:nvSpPr>
        <p:spPr>
          <a:xfrm>
            <a:off x="792440" y="2684959"/>
            <a:ext cx="640200" cy="6402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4"/>
          <p:cNvSpPr/>
          <p:nvPr/>
        </p:nvSpPr>
        <p:spPr>
          <a:xfrm>
            <a:off x="1597050" y="2588525"/>
            <a:ext cx="96927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0" i="0" lang="en-US" sz="2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Delayed material kitting affects planned production schedules.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4"/>
          <p:cNvSpPr/>
          <p:nvPr/>
        </p:nvSpPr>
        <p:spPr>
          <a:xfrm>
            <a:off x="548650" y="3701925"/>
            <a:ext cx="11064300" cy="784500"/>
          </a:xfrm>
          <a:prstGeom prst="roundRect">
            <a:avLst>
              <a:gd fmla="val 6400" name="adj"/>
            </a:avLst>
          </a:prstGeom>
          <a:solidFill>
            <a:srgbClr val="EE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4"/>
          <p:cNvSpPr/>
          <p:nvPr/>
        </p:nvSpPr>
        <p:spPr>
          <a:xfrm>
            <a:off x="777240" y="3769407"/>
            <a:ext cx="640200" cy="6402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4"/>
          <p:cNvSpPr/>
          <p:nvPr/>
        </p:nvSpPr>
        <p:spPr>
          <a:xfrm>
            <a:off x="1691650" y="3881024"/>
            <a:ext cx="9692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0" i="0" lang="en-US" sz="2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Production Orders and Planning are not fully synchronized.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000"/>
              <a:buFont typeface="Calibri"/>
              <a:buNone/>
            </a:pPr>
            <a:r>
              <a:rPr b="0" i="0" lang="en-US" sz="1500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Key Gaps &amp; Recommendations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4"/>
          <p:cNvSpPr/>
          <p:nvPr/>
        </p:nvSpPr>
        <p:spPr>
          <a:xfrm>
            <a:off x="548650" y="4757576"/>
            <a:ext cx="11064300" cy="784500"/>
          </a:xfrm>
          <a:prstGeom prst="roundRect">
            <a:avLst>
              <a:gd fmla="val 6400" name="adj"/>
            </a:avLst>
          </a:prstGeom>
          <a:solidFill>
            <a:srgbClr val="EE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4"/>
          <p:cNvSpPr/>
          <p:nvPr/>
        </p:nvSpPr>
        <p:spPr>
          <a:xfrm>
            <a:off x="777240" y="4825058"/>
            <a:ext cx="640200" cy="6402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4"/>
          <p:cNvSpPr/>
          <p:nvPr/>
        </p:nvSpPr>
        <p:spPr>
          <a:xfrm>
            <a:off x="1691650" y="4936675"/>
            <a:ext cx="9692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lang="en-US" sz="2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Resistance in adding the data into system at required time.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9" name="Google Shape;279;p14" title="Warni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4753" y="1632581"/>
            <a:ext cx="571925" cy="57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4" title="Warni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219" y="2723769"/>
            <a:ext cx="571925" cy="57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14" title="Warni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382" y="3789131"/>
            <a:ext cx="571925" cy="57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14" title="Warni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382" y="4859840"/>
            <a:ext cx="571925" cy="57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Recommendations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5"/>
          <p:cNvSpPr/>
          <p:nvPr/>
        </p:nvSpPr>
        <p:spPr>
          <a:xfrm>
            <a:off x="548640" y="1600200"/>
            <a:ext cx="5394960" cy="4206240"/>
          </a:xfrm>
          <a:prstGeom prst="roundRect">
            <a:avLst>
              <a:gd fmla="val 1957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5"/>
          <p:cNvSpPr/>
          <p:nvPr/>
        </p:nvSpPr>
        <p:spPr>
          <a:xfrm>
            <a:off x="868680" y="1920240"/>
            <a:ext cx="640080" cy="64008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5"/>
          <p:cNvSpPr/>
          <p:nvPr/>
        </p:nvSpPr>
        <p:spPr>
          <a:xfrm>
            <a:off x="1691640" y="1938528"/>
            <a:ext cx="4023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Production Planning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5"/>
          <p:cNvSpPr/>
          <p:nvPr/>
        </p:nvSpPr>
        <p:spPr>
          <a:xfrm>
            <a:off x="868680" y="2788920"/>
            <a:ext cx="475488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13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050"/>
              <a:buFont typeface="Calibri"/>
              <a:buChar char="•"/>
            </a:pPr>
            <a:r>
              <a:rPr b="0" i="0" lang="en-US" sz="2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Finalize Production Orders before Planning starts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03200" marR="0" rtl="0" algn="l">
              <a:spcBef>
                <a:spcPts val="1600"/>
              </a:spcBef>
              <a:spcAft>
                <a:spcPts val="0"/>
              </a:spcAft>
              <a:buClr>
                <a:srgbClr val="CADCFC"/>
              </a:buClr>
              <a:buSzPts val="2050"/>
              <a:buFont typeface="Calibri"/>
              <a:buChar char="•"/>
            </a:pPr>
            <a:r>
              <a:rPr b="0" i="0" lang="en-US" sz="2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Complete Material Kitting before scheduled production activities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5"/>
          <p:cNvSpPr/>
          <p:nvPr/>
        </p:nvSpPr>
        <p:spPr>
          <a:xfrm>
            <a:off x="6245352" y="1600200"/>
            <a:ext cx="5394960" cy="4206240"/>
          </a:xfrm>
          <a:prstGeom prst="roundRect">
            <a:avLst>
              <a:gd fmla="val 1957" name="adj"/>
            </a:avLst>
          </a:prstGeom>
          <a:solidFill>
            <a:srgbClr val="EE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5"/>
          <p:cNvSpPr/>
          <p:nvPr/>
        </p:nvSpPr>
        <p:spPr>
          <a:xfrm>
            <a:off x="6565392" y="192024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5"/>
          <p:cNvSpPr/>
          <p:nvPr/>
        </p:nvSpPr>
        <p:spPr>
          <a:xfrm>
            <a:off x="7388352" y="1938528"/>
            <a:ext cx="4023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System Notifications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5"/>
          <p:cNvSpPr/>
          <p:nvPr/>
        </p:nvSpPr>
        <p:spPr>
          <a:xfrm>
            <a:off x="6565392" y="2788920"/>
            <a:ext cx="475488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13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50"/>
              <a:buFont typeface="Calibri"/>
              <a:buChar char="•"/>
            </a:pPr>
            <a:r>
              <a:rPr b="0" i="0" lang="en-US" sz="2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SIC / QIC task notifications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03200" marR="0" rtl="0" algn="l">
              <a:spcBef>
                <a:spcPts val="1400"/>
              </a:spcBef>
              <a:spcAft>
                <a:spcPts val="0"/>
              </a:spcAft>
              <a:buClr>
                <a:srgbClr val="1E2761"/>
              </a:buClr>
              <a:buSzPts val="2050"/>
              <a:buFont typeface="Calibri"/>
              <a:buChar char="•"/>
            </a:pPr>
            <a:r>
              <a:rPr b="0" i="0" lang="en-US" sz="2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Material Kitting reminders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03200" marR="0" rtl="0" algn="l">
              <a:spcBef>
                <a:spcPts val="1400"/>
              </a:spcBef>
              <a:spcAft>
                <a:spcPts val="0"/>
              </a:spcAft>
              <a:buClr>
                <a:srgbClr val="1E2761"/>
              </a:buClr>
              <a:buSzPts val="2050"/>
              <a:buFont typeface="Calibri"/>
              <a:buChar char="•"/>
            </a:pPr>
            <a:r>
              <a:rPr b="0" i="0" lang="en-US" sz="2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Material Forecast email reports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03200" marR="0" rtl="0" algn="l">
              <a:spcBef>
                <a:spcPts val="1400"/>
              </a:spcBef>
              <a:spcAft>
                <a:spcPts val="0"/>
              </a:spcAft>
              <a:buClr>
                <a:srgbClr val="1E2761"/>
              </a:buClr>
              <a:buSzPts val="2050"/>
              <a:buFont typeface="Calibri"/>
              <a:buChar char="•"/>
            </a:pPr>
            <a:r>
              <a:rPr b="0" i="0" lang="en-US" sz="2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Delay notifications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5"/>
          <p:cNvSpPr/>
          <p:nvPr/>
        </p:nvSpPr>
        <p:spPr>
          <a:xfrm>
            <a:off x="548650" y="6287552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000"/>
              <a:buFont typeface="Calibri"/>
              <a:buNone/>
            </a:pPr>
            <a:r>
              <a:rPr b="0" i="0" lang="en-US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Key Gaps &amp; Recommendations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9" name="Google Shape;299;p15" title="Production Planni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150" y="1945725"/>
            <a:ext cx="589125" cy="58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15" title="System Notification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90872" y="1945725"/>
            <a:ext cx="589125" cy="58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6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Required Management Dashboards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6"/>
          <p:cNvSpPr/>
          <p:nvPr/>
        </p:nvSpPr>
        <p:spPr>
          <a:xfrm>
            <a:off x="498348" y="1920240"/>
            <a:ext cx="2606040" cy="3291840"/>
          </a:xfrm>
          <a:prstGeom prst="roundRect">
            <a:avLst>
              <a:gd fmla="val 3158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08" name="Google Shape;308;p16"/>
          <p:cNvSpPr/>
          <p:nvPr/>
        </p:nvSpPr>
        <p:spPr>
          <a:xfrm>
            <a:off x="1389888" y="2423160"/>
            <a:ext cx="822960" cy="82296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6"/>
          <p:cNvSpPr/>
          <p:nvPr/>
        </p:nvSpPr>
        <p:spPr>
          <a:xfrm>
            <a:off x="681228" y="3520440"/>
            <a:ext cx="2240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Planning Dashboard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6"/>
          <p:cNvSpPr/>
          <p:nvPr/>
        </p:nvSpPr>
        <p:spPr>
          <a:xfrm>
            <a:off x="3360420" y="1920240"/>
            <a:ext cx="2606040" cy="3291840"/>
          </a:xfrm>
          <a:prstGeom prst="roundRect">
            <a:avLst>
              <a:gd fmla="val 3158" name="adj"/>
            </a:avLst>
          </a:prstGeom>
          <a:solidFill>
            <a:srgbClr val="EE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11" name="Google Shape;311;p16"/>
          <p:cNvSpPr/>
          <p:nvPr/>
        </p:nvSpPr>
        <p:spPr>
          <a:xfrm>
            <a:off x="4251960" y="2423160"/>
            <a:ext cx="822960" cy="8229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6"/>
          <p:cNvSpPr/>
          <p:nvPr/>
        </p:nvSpPr>
        <p:spPr>
          <a:xfrm>
            <a:off x="3543300" y="3520440"/>
            <a:ext cx="2240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Warehouse Dashboard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6"/>
          <p:cNvSpPr/>
          <p:nvPr/>
        </p:nvSpPr>
        <p:spPr>
          <a:xfrm>
            <a:off x="6222492" y="1920240"/>
            <a:ext cx="2606040" cy="3291840"/>
          </a:xfrm>
          <a:prstGeom prst="roundRect">
            <a:avLst>
              <a:gd fmla="val 3158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14" name="Google Shape;314;p16"/>
          <p:cNvSpPr/>
          <p:nvPr/>
        </p:nvSpPr>
        <p:spPr>
          <a:xfrm>
            <a:off x="7114032" y="2423160"/>
            <a:ext cx="822960" cy="82296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6"/>
          <p:cNvSpPr/>
          <p:nvPr/>
        </p:nvSpPr>
        <p:spPr>
          <a:xfrm>
            <a:off x="6405372" y="3520440"/>
            <a:ext cx="2240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Production Dashboard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6"/>
          <p:cNvSpPr/>
          <p:nvPr/>
        </p:nvSpPr>
        <p:spPr>
          <a:xfrm>
            <a:off x="9084564" y="1920240"/>
            <a:ext cx="2606040" cy="3291840"/>
          </a:xfrm>
          <a:prstGeom prst="roundRect">
            <a:avLst>
              <a:gd fmla="val 3158" name="adj"/>
            </a:avLst>
          </a:prstGeom>
          <a:solidFill>
            <a:srgbClr val="EE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17" name="Google Shape;317;p16"/>
          <p:cNvSpPr/>
          <p:nvPr/>
        </p:nvSpPr>
        <p:spPr>
          <a:xfrm>
            <a:off x="9976104" y="2423160"/>
            <a:ext cx="822960" cy="8229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6"/>
          <p:cNvSpPr/>
          <p:nvPr/>
        </p:nvSpPr>
        <p:spPr>
          <a:xfrm>
            <a:off x="9267444" y="3520440"/>
            <a:ext cx="2240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Quality Dashboard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Dashboards, Roadmap &amp; MIS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1" name="Google Shape;321;p16" title="Planni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7987" y="2551250"/>
            <a:ext cx="566766" cy="566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16" title="Produc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42129" y="2551250"/>
            <a:ext cx="566766" cy="566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16" title="Quality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04197" y="2551250"/>
            <a:ext cx="566766" cy="566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16" title="Wearhous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43413" y="2514600"/>
            <a:ext cx="640075" cy="64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7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Quality Checksheet Enhancement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Upgrade the Quality Checksheet module to support: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7"/>
          <p:cNvSpPr/>
          <p:nvPr/>
        </p:nvSpPr>
        <p:spPr>
          <a:xfrm>
            <a:off x="498348" y="2103120"/>
            <a:ext cx="2606040" cy="3200400"/>
          </a:xfrm>
          <a:prstGeom prst="roundRect">
            <a:avLst>
              <a:gd fmla="val 3158" name="adj"/>
            </a:avLst>
          </a:prstGeom>
          <a:solidFill>
            <a:srgbClr val="EE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3" name="Google Shape;333;p17"/>
          <p:cNvSpPr/>
          <p:nvPr/>
        </p:nvSpPr>
        <p:spPr>
          <a:xfrm>
            <a:off x="1389888" y="2560320"/>
            <a:ext cx="822960" cy="8229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7"/>
          <p:cNvSpPr/>
          <p:nvPr/>
        </p:nvSpPr>
        <p:spPr>
          <a:xfrm>
            <a:off x="681228" y="3611880"/>
            <a:ext cx="2240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mbria"/>
              <a:buNone/>
            </a:pPr>
            <a:r>
              <a:rPr b="1" i="0" lang="en-US" sz="185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Form-based Checksheets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7"/>
          <p:cNvSpPr/>
          <p:nvPr/>
        </p:nvSpPr>
        <p:spPr>
          <a:xfrm>
            <a:off x="3360420" y="2103120"/>
            <a:ext cx="2606040" cy="3200400"/>
          </a:xfrm>
          <a:prstGeom prst="roundRect">
            <a:avLst>
              <a:gd fmla="val 3158" name="adj"/>
            </a:avLst>
          </a:prstGeom>
          <a:solidFill>
            <a:srgbClr val="EE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6" name="Google Shape;336;p17"/>
          <p:cNvSpPr/>
          <p:nvPr/>
        </p:nvSpPr>
        <p:spPr>
          <a:xfrm>
            <a:off x="4251960" y="2560320"/>
            <a:ext cx="822960" cy="8229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7"/>
          <p:cNvSpPr/>
          <p:nvPr/>
        </p:nvSpPr>
        <p:spPr>
          <a:xfrm>
            <a:off x="3543300" y="3611880"/>
            <a:ext cx="2240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mbria"/>
              <a:buNone/>
            </a:pPr>
            <a:r>
              <a:rPr b="1" i="0" lang="en-US" sz="185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Item-wise Checksheets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7"/>
          <p:cNvSpPr/>
          <p:nvPr/>
        </p:nvSpPr>
        <p:spPr>
          <a:xfrm>
            <a:off x="6222492" y="2103120"/>
            <a:ext cx="2606040" cy="3200400"/>
          </a:xfrm>
          <a:prstGeom prst="roundRect">
            <a:avLst>
              <a:gd fmla="val 3158" name="adj"/>
            </a:avLst>
          </a:prstGeom>
          <a:solidFill>
            <a:srgbClr val="EE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9" name="Google Shape;339;p17"/>
          <p:cNvSpPr/>
          <p:nvPr/>
        </p:nvSpPr>
        <p:spPr>
          <a:xfrm>
            <a:off x="7114032" y="2560320"/>
            <a:ext cx="822960" cy="8229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7"/>
          <p:cNvSpPr/>
          <p:nvPr/>
        </p:nvSpPr>
        <p:spPr>
          <a:xfrm>
            <a:off x="6405372" y="3611880"/>
            <a:ext cx="2240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mbria"/>
              <a:buNone/>
            </a:pPr>
            <a:r>
              <a:rPr b="1" i="0" lang="en-US" sz="185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Dynamic Layouts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7"/>
          <p:cNvSpPr/>
          <p:nvPr/>
        </p:nvSpPr>
        <p:spPr>
          <a:xfrm>
            <a:off x="9084564" y="2103120"/>
            <a:ext cx="2606040" cy="3200400"/>
          </a:xfrm>
          <a:prstGeom prst="roundRect">
            <a:avLst>
              <a:gd fmla="val 3158" name="adj"/>
            </a:avLst>
          </a:prstGeom>
          <a:solidFill>
            <a:srgbClr val="EE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2" name="Google Shape;342;p17"/>
          <p:cNvSpPr/>
          <p:nvPr/>
        </p:nvSpPr>
        <p:spPr>
          <a:xfrm>
            <a:off x="9976104" y="2560320"/>
            <a:ext cx="822960" cy="8229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7"/>
          <p:cNvSpPr/>
          <p:nvPr/>
        </p:nvSpPr>
        <p:spPr>
          <a:xfrm>
            <a:off x="9267444" y="3611880"/>
            <a:ext cx="2240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mbria"/>
              <a:buNone/>
            </a:pPr>
            <a:r>
              <a:rPr b="1" i="0" lang="en-US" sz="185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Standardized Formats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Dashboards, Roadmap &amp; MIS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6" name="Google Shape;346;p17" title="Dynamic Layout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5267" y="2625911"/>
            <a:ext cx="701349" cy="701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17" title="Form-based Checksheet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0688" y="2621125"/>
            <a:ext cx="701349" cy="701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17" title="Item-wise Checksheet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12777" y="2621125"/>
            <a:ext cx="701349" cy="701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17" title="Standardized Format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36912" y="2621125"/>
            <a:ext cx="701349" cy="701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f96a5af02b_0_34"/>
          <p:cNvSpPr/>
          <p:nvPr/>
        </p:nvSpPr>
        <p:spPr>
          <a:xfrm>
            <a:off x="457190" y="1202892"/>
            <a:ext cx="10515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Our Suggestions for Monitoring of KPI’s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g3f96a5af02b_0_34"/>
          <p:cNvSpPr/>
          <p:nvPr/>
        </p:nvSpPr>
        <p:spPr>
          <a:xfrm>
            <a:off x="548650" y="2108125"/>
            <a:ext cx="11292600" cy="3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400"/>
              <a:buFont typeface="Calibri"/>
              <a:buNone/>
            </a:pPr>
            <a:r>
              <a:rPr lang="en-US" sz="2900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Management typically tracks a mix of production, quality, supply chain, financial, and compliance metrics. </a:t>
            </a:r>
            <a:endParaRPr sz="2900">
              <a:solidFill>
                <a:srgbClr val="5A6B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400"/>
              <a:buFont typeface="Calibri"/>
              <a:buNone/>
            </a:pPr>
            <a:r>
              <a:t/>
            </a:r>
            <a:endParaRPr sz="2900">
              <a:solidFill>
                <a:srgbClr val="5A6B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400"/>
              <a:buFont typeface="Calibri"/>
              <a:buNone/>
            </a:pPr>
            <a:r>
              <a:rPr lang="en-US" sz="2900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Given the system we have deployed so far  (Planning → Production → Quality → Warehouse → Manpower → Dashboards), here's how these usually map to real management KPIs:</a:t>
            </a:r>
            <a:endParaRPr b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g3f96a5af02b_0_34"/>
          <p:cNvSpPr/>
          <p:nvPr/>
        </p:nvSpPr>
        <p:spPr>
          <a:xfrm>
            <a:off x="457200" y="6473952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000"/>
              <a:buFont typeface="Calibri"/>
              <a:buNone/>
            </a:pPr>
            <a:r>
              <a:rPr b="0" i="0" lang="en-US" sz="1500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Dashboards, Roadmap &amp; MIS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g3f96a5af02b_0_34"/>
          <p:cNvSpPr/>
          <p:nvPr/>
        </p:nvSpPr>
        <p:spPr>
          <a:xfrm>
            <a:off x="11274552" y="647395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g3f5c74ac002_2_6" title="Gemini_Generated_Image_pcspdtpcspdtpcs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350" y="-289650"/>
            <a:ext cx="12192000" cy="7147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9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MIS Reports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9"/>
          <p:cNvSpPr/>
          <p:nvPr/>
        </p:nvSpPr>
        <p:spPr>
          <a:xfrm>
            <a:off x="498348" y="2011680"/>
            <a:ext cx="2606040" cy="3108960"/>
          </a:xfrm>
          <a:prstGeom prst="roundRect">
            <a:avLst>
              <a:gd fmla="val 3158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72" name="Google Shape;372;p19"/>
          <p:cNvSpPr/>
          <p:nvPr/>
        </p:nvSpPr>
        <p:spPr>
          <a:xfrm>
            <a:off x="1389888" y="2468880"/>
            <a:ext cx="822960" cy="82296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9"/>
          <p:cNvSpPr/>
          <p:nvPr/>
        </p:nvSpPr>
        <p:spPr>
          <a:xfrm>
            <a:off x="635508" y="347472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mbria"/>
              <a:buNone/>
            </a:pPr>
            <a:r>
              <a:rPr b="1" i="0" lang="en-US" sz="17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Station-wise MIS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9"/>
          <p:cNvSpPr/>
          <p:nvPr/>
        </p:nvSpPr>
        <p:spPr>
          <a:xfrm>
            <a:off x="3360420" y="2011680"/>
            <a:ext cx="2606100" cy="3108900"/>
          </a:xfrm>
          <a:prstGeom prst="roundRect">
            <a:avLst>
              <a:gd fmla="val 3158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75" name="Google Shape;375;p19"/>
          <p:cNvSpPr/>
          <p:nvPr/>
        </p:nvSpPr>
        <p:spPr>
          <a:xfrm>
            <a:off x="4251960" y="2468880"/>
            <a:ext cx="822960" cy="82296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9"/>
          <p:cNvSpPr/>
          <p:nvPr/>
        </p:nvSpPr>
        <p:spPr>
          <a:xfrm>
            <a:off x="3497580" y="347472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mbria"/>
              <a:buNone/>
            </a:pPr>
            <a:r>
              <a:rPr b="1" i="0" lang="en-US" sz="17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Assembly-wise MIS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9"/>
          <p:cNvSpPr/>
          <p:nvPr/>
        </p:nvSpPr>
        <p:spPr>
          <a:xfrm>
            <a:off x="6222492" y="2011680"/>
            <a:ext cx="2606040" cy="3108960"/>
          </a:xfrm>
          <a:prstGeom prst="roundRect">
            <a:avLst>
              <a:gd fmla="val 3158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78" name="Google Shape;378;p19"/>
          <p:cNvSpPr/>
          <p:nvPr/>
        </p:nvSpPr>
        <p:spPr>
          <a:xfrm>
            <a:off x="7114032" y="2468880"/>
            <a:ext cx="822960" cy="82296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9"/>
          <p:cNvSpPr/>
          <p:nvPr/>
        </p:nvSpPr>
        <p:spPr>
          <a:xfrm>
            <a:off x="6359652" y="347472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mbria"/>
              <a:buNone/>
            </a:pPr>
            <a:r>
              <a:rPr b="1" lang="en-US" sz="17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Train Set</a:t>
            </a:r>
            <a:r>
              <a:rPr b="1" i="0" lang="en-US" sz="17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-wise MIS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9"/>
          <p:cNvSpPr/>
          <p:nvPr/>
        </p:nvSpPr>
        <p:spPr>
          <a:xfrm>
            <a:off x="9084564" y="2011680"/>
            <a:ext cx="2606040" cy="3108960"/>
          </a:xfrm>
          <a:prstGeom prst="roundRect">
            <a:avLst>
              <a:gd fmla="val 3158" name="adj"/>
            </a:avLst>
          </a:prstGeom>
          <a:solidFill>
            <a:srgbClr val="EE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81" name="Google Shape;381;p19"/>
          <p:cNvSpPr/>
          <p:nvPr/>
        </p:nvSpPr>
        <p:spPr>
          <a:xfrm>
            <a:off x="9976104" y="2468880"/>
            <a:ext cx="822960" cy="8229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9"/>
          <p:cNvSpPr/>
          <p:nvPr/>
        </p:nvSpPr>
        <p:spPr>
          <a:xfrm>
            <a:off x="9221724" y="347472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mbria"/>
              <a:buNone/>
            </a:pPr>
            <a:r>
              <a:rPr b="1" i="0" lang="en-US" sz="175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Manpower MIS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9"/>
          <p:cNvSpPr/>
          <p:nvPr/>
        </p:nvSpPr>
        <p:spPr>
          <a:xfrm>
            <a:off x="9793224" y="4206240"/>
            <a:ext cx="1188720" cy="384048"/>
          </a:xfrm>
          <a:prstGeom prst="roundRect">
            <a:avLst>
              <a:gd fmla="val 50000" name="adj"/>
            </a:avLst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9"/>
          <p:cNvSpPr/>
          <p:nvPr/>
        </p:nvSpPr>
        <p:spPr>
          <a:xfrm>
            <a:off x="9793224" y="4206240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PENDING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Dashboards, Roadmap &amp; MIS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7" name="Google Shape;387;p19" title="Manpow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6675" y="2599450"/>
            <a:ext cx="561825" cy="56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19" title="Assembl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3413" y="2560325"/>
            <a:ext cx="640075" cy="64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19" title="Statio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81338" y="2560325"/>
            <a:ext cx="640075" cy="64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19" title="Trainse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05500" y="2560325"/>
            <a:ext cx="640075" cy="64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0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Future Standardization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0"/>
          <p:cNvSpPr/>
          <p:nvPr/>
        </p:nvSpPr>
        <p:spPr>
          <a:xfrm>
            <a:off x="548640" y="1691640"/>
            <a:ext cx="11064240" cy="777240"/>
          </a:xfrm>
          <a:prstGeom prst="roundRect">
            <a:avLst>
              <a:gd fmla="val 9412" name="adj"/>
            </a:avLst>
          </a:prstGeom>
          <a:solidFill>
            <a:srgbClr val="EE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0"/>
          <p:cNvSpPr/>
          <p:nvPr/>
        </p:nvSpPr>
        <p:spPr>
          <a:xfrm>
            <a:off x="777240" y="1874520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0"/>
          <p:cNvSpPr/>
          <p:nvPr/>
        </p:nvSpPr>
        <p:spPr>
          <a:xfrm>
            <a:off x="777240" y="18745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0"/>
          <p:cNvSpPr/>
          <p:nvPr/>
        </p:nvSpPr>
        <p:spPr>
          <a:xfrm>
            <a:off x="1417320" y="1691640"/>
            <a:ext cx="9966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Standardized Planning Excel Format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0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0"/>
          <p:cNvSpPr/>
          <p:nvPr/>
        </p:nvSpPr>
        <p:spPr>
          <a:xfrm>
            <a:off x="777240" y="2834640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0"/>
          <p:cNvSpPr/>
          <p:nvPr/>
        </p:nvSpPr>
        <p:spPr>
          <a:xfrm>
            <a:off x="777240" y="28346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0"/>
          <p:cNvSpPr/>
          <p:nvPr/>
        </p:nvSpPr>
        <p:spPr>
          <a:xfrm>
            <a:off x="1417320" y="2651760"/>
            <a:ext cx="9966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Standardized Quality Checksheet Format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0"/>
          <p:cNvSpPr/>
          <p:nvPr/>
        </p:nvSpPr>
        <p:spPr>
          <a:xfrm>
            <a:off x="548640" y="3611880"/>
            <a:ext cx="11064240" cy="777240"/>
          </a:xfrm>
          <a:prstGeom prst="roundRect">
            <a:avLst>
              <a:gd fmla="val 9412" name="adj"/>
            </a:avLst>
          </a:prstGeom>
          <a:solidFill>
            <a:srgbClr val="EE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0"/>
          <p:cNvSpPr/>
          <p:nvPr/>
        </p:nvSpPr>
        <p:spPr>
          <a:xfrm>
            <a:off x="777240" y="3794760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0"/>
          <p:cNvSpPr/>
          <p:nvPr/>
        </p:nvSpPr>
        <p:spPr>
          <a:xfrm>
            <a:off x="777240" y="37947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0"/>
          <p:cNvSpPr/>
          <p:nvPr/>
        </p:nvSpPr>
        <p:spPr>
          <a:xfrm>
            <a:off x="1417320" y="3611880"/>
            <a:ext cx="9966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8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Common Data Environment (CDE)</a:t>
            </a:r>
            <a:endParaRPr b="0" i="0" sz="1800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0"/>
          <p:cNvSpPr/>
          <p:nvPr/>
        </p:nvSpPr>
        <p:spPr>
          <a:xfrm>
            <a:off x="548640" y="4572000"/>
            <a:ext cx="1106424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0"/>
          <p:cNvSpPr/>
          <p:nvPr/>
        </p:nvSpPr>
        <p:spPr>
          <a:xfrm>
            <a:off x="777240" y="4754880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0"/>
          <p:cNvSpPr/>
          <p:nvPr/>
        </p:nvSpPr>
        <p:spPr>
          <a:xfrm>
            <a:off x="777240" y="47548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0"/>
          <p:cNvSpPr/>
          <p:nvPr/>
        </p:nvSpPr>
        <p:spPr>
          <a:xfrm>
            <a:off x="1417320" y="4572000"/>
            <a:ext cx="9966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SAP Integration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0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fmla="val 9412" name="adj"/>
            </a:avLst>
          </a:prstGeom>
          <a:solidFill>
            <a:srgbClr val="EE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0"/>
          <p:cNvSpPr/>
          <p:nvPr/>
        </p:nvSpPr>
        <p:spPr>
          <a:xfrm>
            <a:off x="777240" y="5715000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0"/>
          <p:cNvSpPr/>
          <p:nvPr/>
        </p:nvSpPr>
        <p:spPr>
          <a:xfrm>
            <a:off x="777240" y="57150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0"/>
          <p:cNvSpPr/>
          <p:nvPr/>
        </p:nvSpPr>
        <p:spPr>
          <a:xfrm>
            <a:off x="1417320" y="5532120"/>
            <a:ext cx="9966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Common Data Repository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Dashboards, Roadmap &amp; MIS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1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41B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1"/>
          <p:cNvSpPr/>
          <p:nvPr/>
        </p:nvSpPr>
        <p:spPr>
          <a:xfrm>
            <a:off x="822960" y="265176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6" name="Google Shape;426;p21"/>
          <p:cNvCxnSpPr/>
          <p:nvPr/>
        </p:nvCxnSpPr>
        <p:spPr>
          <a:xfrm>
            <a:off x="868680" y="3657600"/>
            <a:ext cx="1005840" cy="0"/>
          </a:xfrm>
          <a:prstGeom prst="straightConnector1">
            <a:avLst/>
          </a:prstGeom>
          <a:noFill/>
          <a:ln cap="flat" cmpd="sng" w="38100">
            <a:solidFill>
              <a:srgbClr val="F2A9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7" name="Google Shape;427;p21"/>
          <p:cNvSpPr/>
          <p:nvPr/>
        </p:nvSpPr>
        <p:spPr>
          <a:xfrm>
            <a:off x="822960" y="3794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Discussion &amp; Next Steps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HOW THE MODULES CONNECT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4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System Architecture &amp; Data Flow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4"/>
          <p:cNvSpPr/>
          <p:nvPr/>
        </p:nvSpPr>
        <p:spPr>
          <a:xfrm>
            <a:off x="548640" y="1417320"/>
            <a:ext cx="3520440" cy="868680"/>
          </a:xfrm>
          <a:prstGeom prst="roundRect">
            <a:avLst>
              <a:gd fmla="val 7368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4"/>
          <p:cNvSpPr/>
          <p:nvPr/>
        </p:nvSpPr>
        <p:spPr>
          <a:xfrm>
            <a:off x="658368" y="1508760"/>
            <a:ext cx="330098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Planning Module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4"/>
          <p:cNvSpPr/>
          <p:nvPr/>
        </p:nvSpPr>
        <p:spPr>
          <a:xfrm>
            <a:off x="658368" y="1901952"/>
            <a:ext cx="33009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Excel import (monthly / weekly)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4"/>
          <p:cNvSpPr/>
          <p:nvPr/>
        </p:nvSpPr>
        <p:spPr>
          <a:xfrm>
            <a:off x="4343400" y="1417320"/>
            <a:ext cx="3520440" cy="868680"/>
          </a:xfrm>
          <a:prstGeom prst="roundRect">
            <a:avLst>
              <a:gd fmla="val 7368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4"/>
          <p:cNvSpPr/>
          <p:nvPr/>
        </p:nvSpPr>
        <p:spPr>
          <a:xfrm>
            <a:off x="4453128" y="1508760"/>
            <a:ext cx="330098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Warehouse Module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4"/>
          <p:cNvSpPr/>
          <p:nvPr/>
        </p:nvSpPr>
        <p:spPr>
          <a:xfrm>
            <a:off x="4453128" y="1901952"/>
            <a:ext cx="33009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Material kitting &amp; forecasting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4"/>
          <p:cNvSpPr/>
          <p:nvPr/>
        </p:nvSpPr>
        <p:spPr>
          <a:xfrm>
            <a:off x="8138160" y="1417320"/>
            <a:ext cx="3502152" cy="868680"/>
          </a:xfrm>
          <a:prstGeom prst="roundRect">
            <a:avLst>
              <a:gd fmla="val 7368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4"/>
          <p:cNvSpPr/>
          <p:nvPr/>
        </p:nvSpPr>
        <p:spPr>
          <a:xfrm>
            <a:off x="8247888" y="1508760"/>
            <a:ext cx="328269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Qualified Manpower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4"/>
          <p:cNvSpPr/>
          <p:nvPr/>
        </p:nvSpPr>
        <p:spPr>
          <a:xfrm>
            <a:off x="8247888" y="1901952"/>
            <a:ext cx="32826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Station-wise worker mapping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4" name="Google Shape;444;p4"/>
          <p:cNvCxnSpPr/>
          <p:nvPr/>
        </p:nvCxnSpPr>
        <p:spPr>
          <a:xfrm>
            <a:off x="2304288" y="2286000"/>
            <a:ext cx="0" cy="384048"/>
          </a:xfrm>
          <a:prstGeom prst="straightConnector1">
            <a:avLst/>
          </a:prstGeom>
          <a:noFill/>
          <a:ln cap="flat" cmpd="sng" w="25400">
            <a:solidFill>
              <a:srgbClr val="5A6B9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5" name="Google Shape;445;p4"/>
          <p:cNvCxnSpPr/>
          <p:nvPr/>
        </p:nvCxnSpPr>
        <p:spPr>
          <a:xfrm>
            <a:off x="6099048" y="2286000"/>
            <a:ext cx="0" cy="384048"/>
          </a:xfrm>
          <a:prstGeom prst="straightConnector1">
            <a:avLst/>
          </a:prstGeom>
          <a:noFill/>
          <a:ln cap="flat" cmpd="sng" w="25400">
            <a:solidFill>
              <a:srgbClr val="5A6B9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6" name="Google Shape;446;p4"/>
          <p:cNvCxnSpPr/>
          <p:nvPr/>
        </p:nvCxnSpPr>
        <p:spPr>
          <a:xfrm>
            <a:off x="9884664" y="2286000"/>
            <a:ext cx="0" cy="384048"/>
          </a:xfrm>
          <a:prstGeom prst="straightConnector1">
            <a:avLst/>
          </a:prstGeom>
          <a:noFill/>
          <a:ln cap="flat" cmpd="sng" w="25400">
            <a:solidFill>
              <a:srgbClr val="5A6B9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7" name="Google Shape;447;p4"/>
          <p:cNvSpPr/>
          <p:nvPr/>
        </p:nvSpPr>
        <p:spPr>
          <a:xfrm>
            <a:off x="548640" y="2670048"/>
            <a:ext cx="5120640" cy="868680"/>
          </a:xfrm>
          <a:prstGeom prst="roundRect">
            <a:avLst>
              <a:gd fmla="val 7368" name="adj"/>
            </a:avLst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4"/>
          <p:cNvSpPr/>
          <p:nvPr/>
        </p:nvSpPr>
        <p:spPr>
          <a:xfrm>
            <a:off x="658368" y="2761488"/>
            <a:ext cx="490118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Production Module (SIC)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4"/>
          <p:cNvSpPr/>
          <p:nvPr/>
        </p:nvSpPr>
        <p:spPr>
          <a:xfrm>
            <a:off x="658368" y="3154680"/>
            <a:ext cx="4901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alibri"/>
              <a:buNone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Station activity list &amp; scheduling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4"/>
          <p:cNvSpPr/>
          <p:nvPr/>
        </p:nvSpPr>
        <p:spPr>
          <a:xfrm>
            <a:off x="5943600" y="2670048"/>
            <a:ext cx="2788920" cy="868680"/>
          </a:xfrm>
          <a:prstGeom prst="roundRect">
            <a:avLst>
              <a:gd fmla="val 7368" name="adj"/>
            </a:avLst>
          </a:prstGeom>
          <a:solidFill>
            <a:srgbClr val="EE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4"/>
          <p:cNvSpPr/>
          <p:nvPr/>
        </p:nvSpPr>
        <p:spPr>
          <a:xfrm>
            <a:off x="6053328" y="2761488"/>
            <a:ext cx="256946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Tablet App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4"/>
          <p:cNvSpPr/>
          <p:nvPr/>
        </p:nvSpPr>
        <p:spPr>
          <a:xfrm>
            <a:off x="6053328" y="3154680"/>
            <a:ext cx="25694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alibri"/>
              <a:buNone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View / start / complete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4"/>
          <p:cNvSpPr/>
          <p:nvPr/>
        </p:nvSpPr>
        <p:spPr>
          <a:xfrm>
            <a:off x="9006840" y="2670048"/>
            <a:ext cx="2633472" cy="868680"/>
          </a:xfrm>
          <a:prstGeom prst="roundRect">
            <a:avLst>
              <a:gd fmla="val 7368" name="adj"/>
            </a:avLst>
          </a:prstGeom>
          <a:solidFill>
            <a:srgbClr val="EE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4"/>
          <p:cNvSpPr/>
          <p:nvPr/>
        </p:nvSpPr>
        <p:spPr>
          <a:xfrm>
            <a:off x="9116568" y="2761488"/>
            <a:ext cx="24140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Manpower Monitoring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4"/>
          <p:cNvSpPr/>
          <p:nvPr/>
        </p:nvSpPr>
        <p:spPr>
          <a:xfrm>
            <a:off x="9116568" y="3154680"/>
            <a:ext cx="24140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alibri"/>
              <a:buNone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Planned vs actual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6" name="Google Shape;456;p4"/>
          <p:cNvCxnSpPr/>
          <p:nvPr/>
        </p:nvCxnSpPr>
        <p:spPr>
          <a:xfrm>
            <a:off x="5669280" y="3104388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5A6B9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7" name="Google Shape;457;p4"/>
          <p:cNvCxnSpPr/>
          <p:nvPr/>
        </p:nvCxnSpPr>
        <p:spPr>
          <a:xfrm>
            <a:off x="3108960" y="3538728"/>
            <a:ext cx="0" cy="384048"/>
          </a:xfrm>
          <a:prstGeom prst="straightConnector1">
            <a:avLst/>
          </a:prstGeom>
          <a:noFill/>
          <a:ln cap="flat" cmpd="sng" w="25400">
            <a:solidFill>
              <a:srgbClr val="5A6B9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8" name="Google Shape;458;p4"/>
          <p:cNvSpPr/>
          <p:nvPr/>
        </p:nvSpPr>
        <p:spPr>
          <a:xfrm>
            <a:off x="548640" y="3922776"/>
            <a:ext cx="5120640" cy="868680"/>
          </a:xfrm>
          <a:prstGeom prst="roundRect">
            <a:avLst>
              <a:gd fmla="val 7368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4"/>
          <p:cNvSpPr/>
          <p:nvPr/>
        </p:nvSpPr>
        <p:spPr>
          <a:xfrm>
            <a:off x="658368" y="4014216"/>
            <a:ext cx="490118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Quality Module — QA Inspection (QIC)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4"/>
          <p:cNvSpPr/>
          <p:nvPr/>
        </p:nvSpPr>
        <p:spPr>
          <a:xfrm>
            <a:off x="658368" y="4407408"/>
            <a:ext cx="4901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Checklist, inspection, rework, re-inspection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4"/>
          <p:cNvSpPr/>
          <p:nvPr/>
        </p:nvSpPr>
        <p:spPr>
          <a:xfrm>
            <a:off x="5943600" y="3922776"/>
            <a:ext cx="5696712" cy="868680"/>
          </a:xfrm>
          <a:prstGeom prst="roundRect">
            <a:avLst>
              <a:gd fmla="val 7368" name="adj"/>
            </a:avLst>
          </a:prstGeom>
          <a:solidFill>
            <a:srgbClr val="EE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4"/>
          <p:cNvSpPr/>
          <p:nvPr/>
        </p:nvSpPr>
        <p:spPr>
          <a:xfrm>
            <a:off x="6053328" y="4014216"/>
            <a:ext cx="54772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Exceptional Station Transfer Workflow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4"/>
          <p:cNvSpPr/>
          <p:nvPr/>
        </p:nvSpPr>
        <p:spPr>
          <a:xfrm>
            <a:off x="6053328" y="4407408"/>
            <a:ext cx="54772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alibri"/>
              <a:buNone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SIC / QIC approval &amp; transfer checklist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4" name="Google Shape;464;p4"/>
          <p:cNvCxnSpPr/>
          <p:nvPr/>
        </p:nvCxnSpPr>
        <p:spPr>
          <a:xfrm>
            <a:off x="384048" y="3104388"/>
            <a:ext cx="0" cy="1252728"/>
          </a:xfrm>
          <a:prstGeom prst="straightConnector1">
            <a:avLst/>
          </a:prstGeom>
          <a:noFill/>
          <a:ln cap="flat" cmpd="sng" w="25400">
            <a:solidFill>
              <a:srgbClr val="F2A93B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65" name="Google Shape;465;p4"/>
          <p:cNvCxnSpPr/>
          <p:nvPr/>
        </p:nvCxnSpPr>
        <p:spPr>
          <a:xfrm>
            <a:off x="384048" y="4357116"/>
            <a:ext cx="164592" cy="0"/>
          </a:xfrm>
          <a:prstGeom prst="straightConnector1">
            <a:avLst/>
          </a:prstGeom>
          <a:noFill/>
          <a:ln cap="flat" cmpd="sng" w="25400">
            <a:solidFill>
              <a:srgbClr val="F2A93B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466" name="Google Shape;466;p4"/>
          <p:cNvSpPr/>
          <p:nvPr/>
        </p:nvSpPr>
        <p:spPr>
          <a:xfrm rot="-5400000">
            <a:off x="-271000" y="3359178"/>
            <a:ext cx="1035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800"/>
              <a:buFont typeface="Calibri"/>
              <a:buNone/>
            </a:pPr>
            <a:r>
              <a:rPr i="1" lang="en-US" sz="1100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1" lang="en-US" sz="11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ework loop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7" name="Google Shape;467;p4"/>
          <p:cNvCxnSpPr/>
          <p:nvPr/>
        </p:nvCxnSpPr>
        <p:spPr>
          <a:xfrm>
            <a:off x="3108960" y="4791456"/>
            <a:ext cx="0" cy="384048"/>
          </a:xfrm>
          <a:prstGeom prst="straightConnector1">
            <a:avLst/>
          </a:prstGeom>
          <a:noFill/>
          <a:ln cap="flat" cmpd="sng" w="25400">
            <a:solidFill>
              <a:srgbClr val="5A6B9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68" name="Google Shape;468;p4"/>
          <p:cNvCxnSpPr/>
          <p:nvPr/>
        </p:nvCxnSpPr>
        <p:spPr>
          <a:xfrm>
            <a:off x="8778240" y="4791456"/>
            <a:ext cx="0" cy="384048"/>
          </a:xfrm>
          <a:prstGeom prst="straightConnector1">
            <a:avLst/>
          </a:prstGeom>
          <a:noFill/>
          <a:ln cap="flat" cmpd="sng" w="25400">
            <a:solidFill>
              <a:srgbClr val="5A6B9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69" name="Google Shape;469;p4"/>
          <p:cNvSpPr/>
          <p:nvPr/>
        </p:nvSpPr>
        <p:spPr>
          <a:xfrm>
            <a:off x="548640" y="5175504"/>
            <a:ext cx="5532120" cy="868680"/>
          </a:xfrm>
          <a:prstGeom prst="roundRect">
            <a:avLst>
              <a:gd fmla="val 7368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4"/>
          <p:cNvSpPr/>
          <p:nvPr/>
        </p:nvSpPr>
        <p:spPr>
          <a:xfrm>
            <a:off x="658368" y="5266944"/>
            <a:ext cx="531266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Management Dashboards &amp; MIS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4"/>
          <p:cNvSpPr/>
          <p:nvPr/>
        </p:nvSpPr>
        <p:spPr>
          <a:xfrm>
            <a:off x="658368" y="5660136"/>
            <a:ext cx="53126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Planning · Warehouse · Production · Quality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4"/>
          <p:cNvSpPr/>
          <p:nvPr/>
        </p:nvSpPr>
        <p:spPr>
          <a:xfrm>
            <a:off x="6309360" y="5175504"/>
            <a:ext cx="5330952" cy="868680"/>
          </a:xfrm>
          <a:prstGeom prst="roundRect">
            <a:avLst>
              <a:gd fmla="val 7368" name="adj"/>
            </a:avLst>
          </a:prstGeom>
          <a:solidFill>
            <a:srgbClr val="EE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4"/>
          <p:cNvSpPr/>
          <p:nvPr/>
        </p:nvSpPr>
        <p:spPr>
          <a:xfrm>
            <a:off x="6419088" y="5266944"/>
            <a:ext cx="511149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Future: SAP Integration &amp; Common Data Environment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4"/>
          <p:cNvSpPr/>
          <p:nvPr/>
        </p:nvSpPr>
        <p:spPr>
          <a:xfrm>
            <a:off x="6419088" y="5660136"/>
            <a:ext cx="51114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alibri"/>
              <a:buNone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Standardized formats &amp; shared repository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Original Project Scope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9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B9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f96a5af02b_0_9"/>
          <p:cNvSpPr/>
          <p:nvPr/>
        </p:nvSpPr>
        <p:spPr>
          <a:xfrm>
            <a:off x="3979925" y="0"/>
            <a:ext cx="4144500" cy="3429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g3f96a5af02b_0_9"/>
          <p:cNvSpPr/>
          <p:nvPr/>
        </p:nvSpPr>
        <p:spPr>
          <a:xfrm>
            <a:off x="0" y="0"/>
            <a:ext cx="4067700" cy="34290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9DAF8"/>
              </a:solidFill>
            </a:endParaRPr>
          </a:p>
        </p:txBody>
      </p:sp>
      <p:sp>
        <p:nvSpPr>
          <p:cNvPr id="484" name="Google Shape;484;g3f96a5af02b_0_9"/>
          <p:cNvSpPr txBox="1"/>
          <p:nvPr/>
        </p:nvSpPr>
        <p:spPr>
          <a:xfrm>
            <a:off x="76725" y="55650"/>
            <a:ext cx="3903300" cy="3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Production &amp; Delivery Performance</a:t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Planned vs. actual production (daily/weekly/monthly) — car-body, bogie, interior fit-out stages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On-time delivery of trainsets to the metro corporation (DMRC, state metro rail corps, etc.)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Station-wise cycle time and bottleneck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Work-in-progress (WIP) inventory across the production line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 backlog and capacity utilization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g3f96a5af02b_0_9"/>
          <p:cNvSpPr txBox="1"/>
          <p:nvPr/>
        </p:nvSpPr>
        <p:spPr>
          <a:xfrm>
            <a:off x="4129188" y="55650"/>
            <a:ext cx="3933600" cy="3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Quality &amp; Reliability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First-pass yield / rework rate per station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QA inspection pass rate and checksheet compliance (your 285 dynamic checksheets)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Field/warranty failure rate post-delivery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SIC/QIC exceptional transfer frequency (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proxy for process discipline — high transfer rates flag upstream planning gaps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RDSO (Research Designs &amp; Standards Organisation) type-approval and certification milestones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g3f96a5af02b_0_9"/>
          <p:cNvSpPr/>
          <p:nvPr/>
        </p:nvSpPr>
        <p:spPr>
          <a:xfrm>
            <a:off x="8124271" y="0"/>
            <a:ext cx="4067700" cy="34290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g3f96a5af02b_0_9"/>
          <p:cNvSpPr/>
          <p:nvPr/>
        </p:nvSpPr>
        <p:spPr>
          <a:xfrm>
            <a:off x="3979938" y="3429000"/>
            <a:ext cx="4144500" cy="34290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g3f96a5af02b_0_9"/>
          <p:cNvSpPr/>
          <p:nvPr/>
        </p:nvSpPr>
        <p:spPr>
          <a:xfrm>
            <a:off x="13" y="3429000"/>
            <a:ext cx="4067700" cy="3429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9DAF8"/>
              </a:solidFill>
            </a:endParaRPr>
          </a:p>
        </p:txBody>
      </p:sp>
      <p:sp>
        <p:nvSpPr>
          <p:cNvPr id="489" name="Google Shape;489;g3f96a5af02b_0_9"/>
          <p:cNvSpPr/>
          <p:nvPr/>
        </p:nvSpPr>
        <p:spPr>
          <a:xfrm>
            <a:off x="8124284" y="3429000"/>
            <a:ext cx="4067700" cy="3429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g3f96a5af02b_0_9"/>
          <p:cNvSpPr txBox="1"/>
          <p:nvPr/>
        </p:nvSpPr>
        <p:spPr>
          <a:xfrm>
            <a:off x="8247450" y="55650"/>
            <a:ext cx="3903300" cy="3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Materials &amp; Supply Chain</a:t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Material kitting fill rate (kitted vs. required before production start)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Stock-out incidents and their production impact (directly tied to the gap you flagged — kitting driven by Production Orders instead of Planning)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Vendor OTIF (on-time-in-full) delivery, especially for imported components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Inventory turns and forecast accuracy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g3f96a5af02b_0_9"/>
          <p:cNvSpPr txBox="1"/>
          <p:nvPr/>
        </p:nvSpPr>
        <p:spPr>
          <a:xfrm>
            <a:off x="131675" y="3548250"/>
            <a:ext cx="3815400" cy="3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Manpower &amp; Safety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Planned vs. actual manpower utilization per station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Idle time and qualified-manpower coverage (stations running short-qualified)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Absenteeism and attrition, especially skilled welders/electricians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g3f96a5af02b_0_9"/>
          <p:cNvSpPr txBox="1"/>
          <p:nvPr/>
        </p:nvSpPr>
        <p:spPr>
          <a:xfrm>
            <a:off x="4127975" y="3541375"/>
            <a:ext cx="3749700" cy="3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Digital &amp; MIS Maturity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 adoption/usage across Planning, Warehouse, Production, Quality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integrity and real-time vs. batch reporting (relevant to your WhatsApp integration and daily actual planning update)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Progress on SAP integration / Common Data Environment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g3f96a5af02b_0_9"/>
          <p:cNvSpPr txBox="1"/>
          <p:nvPr/>
        </p:nvSpPr>
        <p:spPr>
          <a:xfrm>
            <a:off x="8244950" y="3541375"/>
            <a:ext cx="3815400" cy="3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&amp; Contractual Compliance</a:t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Milestone adherence per the contract schedule (design freeze, prototype, bulk production, delivery phases)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"Make in India" / indigenization percentage compliance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Statutory and labour law compliance at the manufacturing site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2026-07-27T07:34:21Z</dcterms:created>
  <dc:creator>PptxGenJS</dc:creator>
</cp:coreProperties>
</file>